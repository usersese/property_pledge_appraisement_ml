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BFA2D-20DE-AC7E-4B8A-9DD6904CC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D77F19-FD22-E9AD-7414-071E7E952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EB609A-B01A-426C-7B81-0D478411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5EED65-8AE3-1D2C-BA67-AFCFB9AC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48F83A-D6D1-B744-00E4-BE2BF5CD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86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A0961-8C66-FF15-A590-7DD2C31F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EA0F35-1EC3-D1E8-092F-2C6DEE34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07E5FE-CC1D-1201-22CE-D4018EE3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EE7F28-A06E-601D-ABD1-5580B71E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1EC03E-414A-234F-A8F5-AE1D3AAF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4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72705-F386-D7EA-5833-E1E48E5C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9743C8-949C-0F73-4383-DBCAEBBF8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7209CE-908D-BFFF-63F0-F9B052E3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A51A99-BDD2-DDFA-22A7-D28690BE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0E587D-693D-30F2-A626-BDD74E1C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56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09D17-2B14-7450-1CD4-DA55A602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A6C8E-8867-341B-1B85-63A28E61C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C95C5B-34B8-3967-616B-2CBD27AD5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B1BD99-AB57-B184-3BB3-A4B47FE8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194FE3-EF51-CBB4-876F-7DABD117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FCCA89-2588-7316-D8B1-0B61A97D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78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9242D-44D2-F27F-D273-3E6B6FAA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22E345-8D0B-2FDF-7BE5-899E51C83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693055-5361-3E6C-5DE9-CA8BBB899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17BCC2-87D7-2037-704C-AAC98C99C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F820BC-F3E7-A845-BEB8-60D98D239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6764CE-814D-B68D-9313-9F649808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9A3BD4-BF70-21D1-27D0-AC967F3B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BE4BEE-BBB5-53A6-7F3D-79AA8EB7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20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716B4-2F87-7C87-B168-E74ECADE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A18FD1-46BF-A7AE-DDF4-091E37B0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A8E712-5505-1411-5A82-DF70BE87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28AEAB-4F5C-A9EC-94F6-26269F7F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9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2AE282-A8B2-1655-929B-C723EABC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30C66C-2BD4-C898-E4CB-15FB6765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04F490-7555-E90F-F4A7-7BC747CF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93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2AB1B-6F8F-2C40-3EF6-C2B486D3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6301C-A1A2-DDA5-624D-1AF268A0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69E7E4-562E-F52E-29BD-D63DDEBE9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38313B-AA1E-B82F-FA7B-AE4016D4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E89F58-D7EC-521E-685D-4A1E39FD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E24472-2BB8-0F6C-1FF9-17552573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60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B13DF-6CBC-9F22-5E30-F5D4EC3C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EE078E-CB6F-A2B9-934B-659FFEAC8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3E9EC5-8C21-C7D9-B1A9-4917B68E6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861B13-EA2A-2ED3-C225-7F172EE6C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BDCD06-51FE-F849-9614-581A2218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48AE0C-29E8-060F-A792-48BD7AAA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78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80D6E-288C-59B3-F77D-6ABB577B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830375-3716-7765-CCB4-9291C1A6E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BC438-87FC-82E5-55D0-43FC0E98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99E39-702C-886A-4DBA-B79BD51E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E6A061-D0E6-C41D-8E23-B0E03CF3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100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38B5F5-18E9-22C4-2EF1-C2FC6FA96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68CC3B-D27D-F64F-76A5-442D7111B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F3152-DF41-0D9E-1F41-9667673A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E4201-3A05-DBC4-35DB-06D49D39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763D23-DF05-16CF-8293-E4F9FF94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31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B7E1EB-C8B5-29FD-DFA9-7786EB1C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29A479-E627-11AC-3368-0E170346F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4E5A9D-C015-9E48-03AB-E5C955772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1CDEF-3D6F-4D36-9D1C-90DCF312CF68}" type="datetimeFigureOut">
              <a:rPr lang="zh-CN" altLang="en-US" smtClean="0"/>
              <a:t>2022-11-28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69099-53FB-FCCB-0808-C154D4DA3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95130-42B3-99BC-C124-48B6E4B5C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A7489-C6C3-4C6B-8A67-961DC4F41A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13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19843-293F-5DF6-6927-A0D08925E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6144" y="1956864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基于机器学习的商业银行房产质押价值评估研究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654EB2-FA3E-F4AB-C5F0-E6E7DACEA5FD}"/>
              </a:ext>
            </a:extLst>
          </p:cNvPr>
          <p:cNvSpPr txBox="1"/>
          <p:nvPr/>
        </p:nvSpPr>
        <p:spPr>
          <a:xfrm>
            <a:off x="9678140" y="5965794"/>
            <a:ext cx="210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汇报人：王雨瑶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C11962-4EAF-00A2-17F8-3EF514FFE917}"/>
              </a:ext>
            </a:extLst>
          </p:cNvPr>
          <p:cNvSpPr txBox="1"/>
          <p:nvPr/>
        </p:nvSpPr>
        <p:spPr>
          <a:xfrm>
            <a:off x="3852909" y="5104660"/>
            <a:ext cx="5166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049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14A5ADD-DA29-2A4E-1FA9-3A53C4B61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922"/>
            <a:ext cx="12192000" cy="37141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162A3C-27C5-7227-F024-B788102C3679}"/>
              </a:ext>
            </a:extLst>
          </p:cNvPr>
          <p:cNvSpPr txBox="1"/>
          <p:nvPr/>
        </p:nvSpPr>
        <p:spPr>
          <a:xfrm>
            <a:off x="355107" y="310718"/>
            <a:ext cx="2867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1.1 </a:t>
            </a:r>
            <a:r>
              <a:rPr lang="zh-CN" altLang="en-US" sz="2400" dirty="0"/>
              <a:t>研究背景和意义</a:t>
            </a:r>
          </a:p>
        </p:txBody>
      </p:sp>
    </p:spTree>
    <p:extLst>
      <p:ext uri="{BB962C8B-B14F-4D97-AF65-F5344CB8AC3E}">
        <p14:creationId xmlns:p14="http://schemas.microsoft.com/office/powerpoint/2010/main" val="51307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D6D5FEC-E6C9-3F6F-AC98-DDC4742CEC46}"/>
              </a:ext>
            </a:extLst>
          </p:cNvPr>
          <p:cNvSpPr txBox="1"/>
          <p:nvPr/>
        </p:nvSpPr>
        <p:spPr>
          <a:xfrm>
            <a:off x="509355" y="443883"/>
            <a:ext cx="3302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1.2 </a:t>
            </a:r>
            <a:r>
              <a:rPr lang="zh-CN" altLang="en-US" sz="2400" dirty="0"/>
              <a:t>国内外研究现状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10AE02-AB39-0C01-C3D5-7AE43FE08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1585912"/>
            <a:ext cx="98298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4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3E5CBE-727A-6388-AAF1-187ED9CAA761}"/>
              </a:ext>
            </a:extLst>
          </p:cNvPr>
          <p:cNvSpPr txBox="1"/>
          <p:nvPr/>
        </p:nvSpPr>
        <p:spPr>
          <a:xfrm>
            <a:off x="727969" y="328474"/>
            <a:ext cx="64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主要研究内容：建立堆叠算法对房价估值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F7662B-AB2E-3590-E399-021B4C0D13A0}"/>
              </a:ext>
            </a:extLst>
          </p:cNvPr>
          <p:cNvSpPr txBox="1"/>
          <p:nvPr/>
        </p:nvSpPr>
        <p:spPr>
          <a:xfrm>
            <a:off x="727969" y="1145219"/>
            <a:ext cx="1102606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创新之处（不同于现有文献之处）：</a:t>
            </a:r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包含全国大中小城市的数据集（从链家网爬取）</a:t>
            </a:r>
            <a:endParaRPr lang="en-US" altLang="zh-CN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站在中国国情的视角（加入特征变量</a:t>
            </a:r>
            <a:r>
              <a:rPr lang="en-US" altLang="zh-CN" sz="2000" dirty="0"/>
              <a:t>——</a:t>
            </a:r>
            <a:r>
              <a:rPr lang="zh-CN" altLang="en-US" sz="2000" dirty="0"/>
              <a:t>当地国企数量、地方</a:t>
            </a:r>
            <a:r>
              <a:rPr lang="en-US" altLang="zh-CN" sz="2000" dirty="0"/>
              <a:t>GDP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估值时加入对房产流动性的考虑（加入特征变量</a:t>
            </a:r>
            <a:r>
              <a:rPr lang="en-US" altLang="zh-CN" sz="2000" dirty="0"/>
              <a:t>——</a:t>
            </a:r>
            <a:r>
              <a:rPr lang="zh-CN" altLang="en-US" sz="2000" dirty="0"/>
              <a:t>房产关注度和发帖时间）</a:t>
            </a:r>
            <a:endParaRPr lang="en-US" altLang="zh-CN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使用堆叠模型而不是单一算法模型，并对比两者优劣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0075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缺角矩形 23">
            <a:extLst>
              <a:ext uri="{FF2B5EF4-FFF2-40B4-BE49-F238E27FC236}">
                <a16:creationId xmlns:a16="http://schemas.microsoft.com/office/drawing/2014/main" id="{F4DA04EE-E20A-1963-ED57-912C50DDF6FC}"/>
              </a:ext>
            </a:extLst>
          </p:cNvPr>
          <p:cNvSpPr/>
          <p:nvPr/>
        </p:nvSpPr>
        <p:spPr>
          <a:xfrm>
            <a:off x="7100540" y="1587591"/>
            <a:ext cx="843377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DEF9EF-DBD9-2360-1D37-B2CFD000E641}"/>
              </a:ext>
            </a:extLst>
          </p:cNvPr>
          <p:cNvSpPr txBox="1"/>
          <p:nvPr/>
        </p:nvSpPr>
        <p:spPr>
          <a:xfrm>
            <a:off x="7259874" y="5713279"/>
            <a:ext cx="65084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实例</a:t>
            </a:r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F14E8725-E244-E065-A073-D63F4DD78946}"/>
              </a:ext>
            </a:extLst>
          </p:cNvPr>
          <p:cNvSpPr/>
          <p:nvPr/>
        </p:nvSpPr>
        <p:spPr>
          <a:xfrm>
            <a:off x="5342759" y="4301940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缺角矩形 10">
            <a:extLst>
              <a:ext uri="{FF2B5EF4-FFF2-40B4-BE49-F238E27FC236}">
                <a16:creationId xmlns:a16="http://schemas.microsoft.com/office/drawing/2014/main" id="{87206403-E70D-E07C-19E0-33D3D20B0668}"/>
              </a:ext>
            </a:extLst>
          </p:cNvPr>
          <p:cNvSpPr/>
          <p:nvPr/>
        </p:nvSpPr>
        <p:spPr>
          <a:xfrm>
            <a:off x="7181178" y="4301940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B4784E-8AFF-1D4F-8C2E-20123029E619}"/>
              </a:ext>
            </a:extLst>
          </p:cNvPr>
          <p:cNvSpPr txBox="1"/>
          <p:nvPr/>
        </p:nvSpPr>
        <p:spPr>
          <a:xfrm>
            <a:off x="6882431" y="4453348"/>
            <a:ext cx="1534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AdaBoost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算法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缺角矩形 12">
            <a:extLst>
              <a:ext uri="{FF2B5EF4-FFF2-40B4-BE49-F238E27FC236}">
                <a16:creationId xmlns:a16="http://schemas.microsoft.com/office/drawing/2014/main" id="{04B3FA1D-1395-9BE4-25E1-F5F151E96295}"/>
              </a:ext>
            </a:extLst>
          </p:cNvPr>
          <p:cNvSpPr/>
          <p:nvPr/>
        </p:nvSpPr>
        <p:spPr>
          <a:xfrm>
            <a:off x="9109851" y="4293064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7CBB08-3CDE-9F33-FDEC-E1EDA4D8699C}"/>
              </a:ext>
            </a:extLst>
          </p:cNvPr>
          <p:cNvSpPr txBox="1"/>
          <p:nvPr/>
        </p:nvSpPr>
        <p:spPr>
          <a:xfrm>
            <a:off x="8960779" y="4400426"/>
            <a:ext cx="1088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</a:rPr>
              <a:t>GBDT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算法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73A813-F6F6-A876-C80A-05801214921D}"/>
              </a:ext>
            </a:extLst>
          </p:cNvPr>
          <p:cNvSpPr txBox="1"/>
          <p:nvPr/>
        </p:nvSpPr>
        <p:spPr>
          <a:xfrm>
            <a:off x="6921647" y="1726431"/>
            <a:ext cx="1201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支持向量机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5699314-F9ED-D58A-5E31-2483AB187052}"/>
              </a:ext>
            </a:extLst>
          </p:cNvPr>
          <p:cNvSpPr/>
          <p:nvPr/>
        </p:nvSpPr>
        <p:spPr>
          <a:xfrm>
            <a:off x="5487949" y="3116130"/>
            <a:ext cx="493063" cy="40235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BEECB27-F51D-2472-F8A8-CD6194127878}"/>
              </a:ext>
            </a:extLst>
          </p:cNvPr>
          <p:cNvSpPr/>
          <p:nvPr/>
        </p:nvSpPr>
        <p:spPr>
          <a:xfrm>
            <a:off x="7296957" y="3115481"/>
            <a:ext cx="559294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C1EF25A-2C79-AAF5-820D-5404E1B31288}"/>
              </a:ext>
            </a:extLst>
          </p:cNvPr>
          <p:cNvSpPr/>
          <p:nvPr/>
        </p:nvSpPr>
        <p:spPr>
          <a:xfrm>
            <a:off x="9231549" y="3107894"/>
            <a:ext cx="547455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BB623B-CE25-F41B-BEBB-3A0548184FB8}"/>
              </a:ext>
            </a:extLst>
          </p:cNvPr>
          <p:cNvSpPr txBox="1"/>
          <p:nvPr/>
        </p:nvSpPr>
        <p:spPr>
          <a:xfrm>
            <a:off x="5598921" y="3107894"/>
            <a:ext cx="297402" cy="380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84EAC7-9AA0-DD73-F75B-4F0EFC14CA68}"/>
              </a:ext>
            </a:extLst>
          </p:cNvPr>
          <p:cNvSpPr txBox="1"/>
          <p:nvPr/>
        </p:nvSpPr>
        <p:spPr>
          <a:xfrm>
            <a:off x="7416621" y="3126960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576983-E4BA-88C8-76A0-D4B73FA17AC0}"/>
              </a:ext>
            </a:extLst>
          </p:cNvPr>
          <p:cNvSpPr txBox="1"/>
          <p:nvPr/>
        </p:nvSpPr>
        <p:spPr>
          <a:xfrm>
            <a:off x="9336600" y="3076153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7E183A-5BA7-02BE-D769-51635BCC60F4}"/>
              </a:ext>
            </a:extLst>
          </p:cNvPr>
          <p:cNvSpPr txBox="1"/>
          <p:nvPr/>
        </p:nvSpPr>
        <p:spPr>
          <a:xfrm>
            <a:off x="5232734" y="4453348"/>
            <a:ext cx="1127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随机森林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9A9130E-9DC6-7F40-7F5D-D4579086FFCC}"/>
              </a:ext>
            </a:extLst>
          </p:cNvPr>
          <p:cNvSpPr/>
          <p:nvPr/>
        </p:nvSpPr>
        <p:spPr>
          <a:xfrm>
            <a:off x="7224828" y="534151"/>
            <a:ext cx="559294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0C34DE-6BE7-76F9-2D82-85D937F63159}"/>
              </a:ext>
            </a:extLst>
          </p:cNvPr>
          <p:cNvSpPr txBox="1"/>
          <p:nvPr/>
        </p:nvSpPr>
        <p:spPr>
          <a:xfrm>
            <a:off x="7348743" y="519357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F69F4784-B688-8053-A184-A53F5F2D54EC}"/>
              </a:ext>
            </a:extLst>
          </p:cNvPr>
          <p:cNvCxnSpPr>
            <a:cxnSpLocks/>
            <a:stCxn id="3" idx="1"/>
            <a:endCxn id="4" idx="2"/>
          </p:cNvCxnSpPr>
          <p:nvPr/>
        </p:nvCxnSpPr>
        <p:spPr>
          <a:xfrm rot="10800000">
            <a:off x="5738186" y="4905623"/>
            <a:ext cx="1521688" cy="9923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9D0B305-7CEE-C7A2-84BC-FCD64715420C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flipH="1" flipV="1">
            <a:off x="7576605" y="4905622"/>
            <a:ext cx="8691" cy="80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0A5BE90-D8CC-5A92-2929-8108BCB62AEA}"/>
              </a:ext>
            </a:extLst>
          </p:cNvPr>
          <p:cNvCxnSpPr>
            <a:cxnSpLocks/>
            <a:stCxn id="3" idx="3"/>
            <a:endCxn id="13" idx="2"/>
          </p:cNvCxnSpPr>
          <p:nvPr/>
        </p:nvCxnSpPr>
        <p:spPr>
          <a:xfrm flipV="1">
            <a:off x="7910718" y="4896746"/>
            <a:ext cx="1594560" cy="10011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EBDD5DF-A15E-C263-528B-898B66D869E5}"/>
              </a:ext>
            </a:extLst>
          </p:cNvPr>
          <p:cNvCxnSpPr>
            <a:cxnSpLocks/>
            <a:stCxn id="4" idx="0"/>
            <a:endCxn id="18" idx="2"/>
          </p:cNvCxnSpPr>
          <p:nvPr/>
        </p:nvCxnSpPr>
        <p:spPr>
          <a:xfrm flipV="1">
            <a:off x="5738186" y="3488324"/>
            <a:ext cx="9436" cy="813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315B6D5-9782-D80D-EBF3-8C403177D625}"/>
              </a:ext>
            </a:extLst>
          </p:cNvPr>
          <p:cNvCxnSpPr>
            <a:cxnSpLocks/>
            <a:stCxn id="11" idx="0"/>
            <a:endCxn id="16" idx="4"/>
          </p:cNvCxnSpPr>
          <p:nvPr/>
        </p:nvCxnSpPr>
        <p:spPr>
          <a:xfrm flipH="1" flipV="1">
            <a:off x="7576604" y="3506098"/>
            <a:ext cx="1" cy="79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2AE9088-BBFA-94B7-8AF0-A178D7DA2013}"/>
              </a:ext>
            </a:extLst>
          </p:cNvPr>
          <p:cNvCxnSpPr>
            <a:cxnSpLocks/>
            <a:stCxn id="13" idx="0"/>
            <a:endCxn id="17" idx="4"/>
          </p:cNvCxnSpPr>
          <p:nvPr/>
        </p:nvCxnSpPr>
        <p:spPr>
          <a:xfrm flipH="1" flipV="1">
            <a:off x="9505277" y="3498511"/>
            <a:ext cx="1" cy="794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8BDE3ED-1165-3DB3-B03D-D440E9E613F2}"/>
              </a:ext>
            </a:extLst>
          </p:cNvPr>
          <p:cNvCxnSpPr>
            <a:stCxn id="15" idx="7"/>
            <a:endCxn id="24" idx="2"/>
          </p:cNvCxnSpPr>
          <p:nvPr/>
        </p:nvCxnSpPr>
        <p:spPr>
          <a:xfrm flipV="1">
            <a:off x="5908805" y="2191273"/>
            <a:ext cx="1613424" cy="983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D1432E2-60A6-F29F-AF0B-34D1941C7228}"/>
              </a:ext>
            </a:extLst>
          </p:cNvPr>
          <p:cNvCxnSpPr>
            <a:cxnSpLocks/>
            <a:stCxn id="16" idx="0"/>
            <a:endCxn id="24" idx="2"/>
          </p:cNvCxnSpPr>
          <p:nvPr/>
        </p:nvCxnSpPr>
        <p:spPr>
          <a:xfrm flipH="1" flipV="1">
            <a:off x="7522229" y="2191273"/>
            <a:ext cx="54375" cy="92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66645A90-BC73-85D8-4AE6-749C728A0EC4}"/>
              </a:ext>
            </a:extLst>
          </p:cNvPr>
          <p:cNvCxnSpPr>
            <a:cxnSpLocks/>
            <a:stCxn id="17" idx="1"/>
            <a:endCxn id="24" idx="2"/>
          </p:cNvCxnSpPr>
          <p:nvPr/>
        </p:nvCxnSpPr>
        <p:spPr>
          <a:xfrm flipH="1" flipV="1">
            <a:off x="7522229" y="2191273"/>
            <a:ext cx="1789493" cy="973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D702DE1F-03EE-4E06-9804-7F5EC535B37C}"/>
              </a:ext>
            </a:extLst>
          </p:cNvPr>
          <p:cNvCxnSpPr>
            <a:cxnSpLocks/>
            <a:stCxn id="24" idx="0"/>
            <a:endCxn id="26" idx="4"/>
          </p:cNvCxnSpPr>
          <p:nvPr/>
        </p:nvCxnSpPr>
        <p:spPr>
          <a:xfrm flipH="1" flipV="1">
            <a:off x="7504475" y="924768"/>
            <a:ext cx="17754" cy="66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E78B63D5-89A4-6DFF-01CD-C88036D1FA00}"/>
              </a:ext>
            </a:extLst>
          </p:cNvPr>
          <p:cNvSpPr/>
          <p:nvPr/>
        </p:nvSpPr>
        <p:spPr>
          <a:xfrm>
            <a:off x="4704123" y="3895132"/>
            <a:ext cx="5690586" cy="26351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A16C542-F33E-3179-2D2E-A3EA2A253125}"/>
              </a:ext>
            </a:extLst>
          </p:cNvPr>
          <p:cNvSpPr txBox="1"/>
          <p:nvPr/>
        </p:nvSpPr>
        <p:spPr>
          <a:xfrm>
            <a:off x="10623312" y="4843352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第一阶段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3B536D-7928-A2D8-7327-1B66FF17158D}"/>
              </a:ext>
            </a:extLst>
          </p:cNvPr>
          <p:cNvSpPr/>
          <p:nvPr/>
        </p:nvSpPr>
        <p:spPr>
          <a:xfrm>
            <a:off x="4704123" y="1218708"/>
            <a:ext cx="5690586" cy="15362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C1B8C98-CA54-8B6D-52AB-37C361B57983}"/>
              </a:ext>
            </a:extLst>
          </p:cNvPr>
          <p:cNvSpPr txBox="1"/>
          <p:nvPr/>
        </p:nvSpPr>
        <p:spPr>
          <a:xfrm>
            <a:off x="10623311" y="1704766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第二阶段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9A7886A-C5B4-F945-0DCF-3C79B630BED1}"/>
              </a:ext>
            </a:extLst>
          </p:cNvPr>
          <p:cNvSpPr txBox="1"/>
          <p:nvPr/>
        </p:nvSpPr>
        <p:spPr>
          <a:xfrm>
            <a:off x="7252939" y="3752258"/>
            <a:ext cx="79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E812E34-CE77-1E3A-EF33-8CA28A4FEA65}"/>
              </a:ext>
            </a:extLst>
          </p:cNvPr>
          <p:cNvSpPr txBox="1"/>
          <p:nvPr/>
        </p:nvSpPr>
        <p:spPr>
          <a:xfrm>
            <a:off x="7220390" y="2501992"/>
            <a:ext cx="79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5F23936-73E7-A9F2-2553-3FFF179FE4C3}"/>
              </a:ext>
            </a:extLst>
          </p:cNvPr>
          <p:cNvSpPr txBox="1"/>
          <p:nvPr/>
        </p:nvSpPr>
        <p:spPr>
          <a:xfrm>
            <a:off x="8204049" y="463934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最终结果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2AAF08-C0B4-4FC1-708A-D556EA8577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994"/>
          <a:stretch/>
        </p:blipFill>
        <p:spPr>
          <a:xfrm>
            <a:off x="174854" y="155100"/>
            <a:ext cx="3965538" cy="286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4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625B7-CDD0-894D-5232-DA701CD1B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谢谢倾听！</a:t>
            </a:r>
          </a:p>
        </p:txBody>
      </p:sp>
    </p:spTree>
    <p:extLst>
      <p:ext uri="{BB962C8B-B14F-4D97-AF65-F5344CB8AC3E}">
        <p14:creationId xmlns:p14="http://schemas.microsoft.com/office/powerpoint/2010/main" val="1608329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140</Words>
  <Application>Microsoft Office PowerPoint</Application>
  <PresentationFormat>宽屏</PresentationFormat>
  <Paragraphs>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基于机器学习的商业银行房产质押价值评估研究</vt:lpstr>
      <vt:lpstr>PowerPoint 演示文稿</vt:lpstr>
      <vt:lpstr>PowerPoint 演示文稿</vt:lpstr>
      <vt:lpstr>PowerPoint 演示文稿</vt:lpstr>
      <vt:lpstr>PowerPoint 演示文稿</vt:lpstr>
      <vt:lpstr>谢谢倾听！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基于机器学习的商业银行房产质押价值评估研究</dc:title>
  <dc:creator>王 雨瑶</dc:creator>
  <cp:lastModifiedBy>王 雨瑶</cp:lastModifiedBy>
  <cp:revision>7</cp:revision>
  <dcterms:created xsi:type="dcterms:W3CDTF">2022-11-27T09:20:36Z</dcterms:created>
  <dcterms:modified xsi:type="dcterms:W3CDTF">2022-11-28T07:18:57Z</dcterms:modified>
</cp:coreProperties>
</file>